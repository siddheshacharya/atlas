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51560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6000" b="1" i="0">
                <a:solidFill>
                  <a:srgbClr val="FFFFFF"/>
                </a:solidFill>
                <a:latin typeface="Cambria"/>
              </a:rPr>
              <a:t>ATLAS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926080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0" i="0">
                <a:solidFill>
                  <a:srgbClr val="AEB6CC"/>
                </a:solidFill>
                <a:latin typeface="Cambria"/>
              </a:rPr>
              <a:t>Agentic Technology for Literature Analysis and Synthesis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749039"/>
            <a:ext cx="1051560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A literature-review agent that reads, follows citations, and keeps every claim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tied to a verbatim, checked quote from its source.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074920"/>
            <a:ext cx="105156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Siddhesh Acharya   ·   Mrigakshi Kaul   ·   Suhani Singh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76072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AEB6CC"/>
                </a:solidFill>
                <a:latin typeface="Calibri"/>
              </a:rPr>
              <a:t>Final Review   ·   3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46304"/>
            <a:ext cx="1152144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0D1226"/>
                </a:solidFill>
                <a:latin typeface="Cambria"/>
              </a:rPr>
              <a:t>The Problem: Retrieval Is Solved. Reading Is Not.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0D1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6519672"/>
            <a:ext cx="104241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AEB6CC"/>
                </a:solidFill>
                <a:latin typeface="Calibri"/>
              </a:rPr>
              <a:t>ATLAS  —  Agentic Technology for Literature Analysis and Synthesis   ·   Siddhesh Acharya, Mrigakshi Kaul, Suhani Singh   ·   Final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501384"/>
            <a:ext cx="5029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868680"/>
            <a:ext cx="5577840" cy="2377440"/>
          </a:xfrm>
          <a:prstGeom prst="rect">
            <a:avLst/>
          </a:prstGeom>
          <a:solidFill>
            <a:srgbClr val="FC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749808"/>
            <a:ext cx="1751076" cy="256032"/>
          </a:xfrm>
          <a:prstGeom prst="rect">
            <a:avLst/>
          </a:prstGeom>
          <a:solidFill>
            <a:srgbClr val="E24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758952"/>
            <a:ext cx="1751076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HOW TOOLS DO IT TODAY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97280"/>
            <a:ext cx="5212079" cy="2057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F2937"/>
                </a:solidFill>
                <a:latin typeface="Calibri"/>
              </a:rPr>
              <a:t>Search the query → take the top-k most similar abstracts → summarise them.</a:t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F2937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F2937"/>
                </a:solidFill>
                <a:latin typeface="Calibri"/>
              </a:rPr>
              <a:t>One pass. Nothing read changes what gets read next. The summary can cite</a:t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F2937"/>
                </a:solidFill>
                <a:latin typeface="Calibri"/>
              </a:rPr>
              <a:t>things the model never saw, and quotes can be paraphrased or invented.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868680"/>
            <a:ext cx="5577840" cy="2377440"/>
          </a:xfrm>
          <a:prstGeom prst="rect">
            <a:avLst/>
          </a:prstGeom>
          <a:solidFill>
            <a:srgbClr val="E7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59" y="749808"/>
            <a:ext cx="1984248" cy="256032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59" y="758952"/>
            <a:ext cx="1984248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HOW A RESEARCHER DOES 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097280"/>
            <a:ext cx="5212079" cy="2057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F2937"/>
                </a:solidFill>
                <a:latin typeface="Calibri"/>
              </a:rPr>
              <a:t>Read the most promising paper → follow its references and citers →</a:t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F2937"/>
                </a:solidFill>
                <a:latin typeface="Calibri"/>
              </a:rPr>
              <a:t>decide what to read next based on what was just learned → repeat.</a:t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F2937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F2937"/>
                </a:solidFill>
                <a:latin typeface="Calibri"/>
              </a:rPr>
              <a:t>Keep notes that point back to the exact sentence. Notice disagreements.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611880"/>
            <a:ext cx="11430000" cy="2514600"/>
          </a:xfrm>
          <a:prstGeom prst="rect">
            <a:avLst/>
          </a:prstGeom>
          <a:solidFill>
            <a:srgbClr val="EA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493008"/>
            <a:ext cx="2217420" cy="256032"/>
          </a:xfrm>
          <a:prstGeom prst="rect">
            <a:avLst/>
          </a:prstGeom>
          <a:solidFill>
            <a:srgbClr val="0D1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502152"/>
            <a:ext cx="221742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WHAT ATLAS SETS OUT TO TEST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840480"/>
            <a:ext cx="11064240" cy="21945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F2937"/>
                </a:solidFill>
                <a:latin typeface="Calibri"/>
              </a:rPr>
              <a:t>1. </a:t>
            </a:r>
            <a:r>
              <a:rPr sz="1400" b="0" i="0">
                <a:solidFill>
                  <a:srgbClr val="1F2937"/>
                </a:solidFill>
                <a:latin typeface="Calibri"/>
              </a:rPr>
              <a:t>A closed foraging loop reads differently from one-shot retrieval.</a:t>
            </a:r>
          </a:p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F2937"/>
                </a:solidFill>
                <a:latin typeface="Calibri"/>
              </a:rPr>
              <a:t>2. </a:t>
            </a:r>
            <a:r>
              <a:rPr sz="1400" b="0" i="0">
                <a:solidFill>
                  <a:srgbClr val="1F2937"/>
                </a:solidFill>
                <a:latin typeface="Calibri"/>
              </a:rPr>
              <a:t>Every extracted claim can be forced to carry a verbatim quote that is machine-checked against the source — no paraphrase survives.</a:t>
            </a:r>
          </a:p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F2937"/>
                </a:solidFill>
                <a:latin typeface="Calibri"/>
              </a:rPr>
              <a:t>3. </a:t>
            </a:r>
            <a:r>
              <a:rPr sz="1400" b="0" i="0">
                <a:solidFill>
                  <a:srgbClr val="1F2937"/>
                </a:solidFill>
                <a:latin typeface="Calibri"/>
              </a:rPr>
              <a:t>From what it read, it can report where papers agree, conflict, and leave gaps — and refuse to answer beyond what it read.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F2937"/>
                </a:solidFill>
                <a:latin typeface="Calibri"/>
              </a:rPr>
              <a:t/>
            </a:r>
            <a:r>
              <a:rPr sz="1400" b="0" i="1">
                <a:solidFill>
                  <a:srgbClr val="556070"/>
                </a:solidFill>
                <a:latin typeface="Calibri"/>
              </a:rPr>
              <a:t>We measured each of these. Some held, some did not; this deck reports both.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46304"/>
            <a:ext cx="1152144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0D1226"/>
                </a:solidFill>
                <a:latin typeface="Cambria"/>
              </a:rPr>
              <a:t>The Idea: A Closed Foraging Loop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0D1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6519672"/>
            <a:ext cx="104241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AEB6CC"/>
                </a:solidFill>
                <a:latin typeface="Calibri"/>
              </a:rPr>
              <a:t>ATLAS  —  Agentic Technology for Literature Analysis and Synthesis   ·   Siddhesh Acharya, Mrigakshi Kaul, Suhani Singh   ·   Final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501384"/>
            <a:ext cx="5029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143000"/>
            <a:ext cx="1298448" cy="1188720"/>
          </a:xfrm>
          <a:prstGeom prst="rect">
            <a:avLst/>
          </a:prstGeom>
          <a:solidFill>
            <a:srgbClr val="EAF1FD"/>
          </a:solidFill>
          <a:ln w="9525">
            <a:solidFill>
              <a:srgbClr val="2F6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216152"/>
            <a:ext cx="1298448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0D1226"/>
                </a:solidFill>
                <a:latin typeface="Calibri"/>
              </a:rPr>
              <a:t>Harvest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600200"/>
            <a:ext cx="1298448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 i="0">
                <a:solidFill>
                  <a:srgbClr val="556070"/>
                </a:solidFill>
                <a:latin typeface="Calibri"/>
              </a:rPr>
              <a:t>4 APIs → ~500</a:t>
            </a:r>
          </a:p>
          <a:p>
            <a:pPr algn="ctr">
              <a:spcAft>
                <a:spcPts val="400"/>
              </a:spcAft>
            </a:pPr>
            <a:r>
              <a:rPr sz="1050" b="0" i="0">
                <a:solidFill>
                  <a:srgbClr val="556070"/>
                </a:solidFill>
                <a:latin typeface="Calibri"/>
              </a:rPr>
              <a:t>candidates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39" y="1481328"/>
            <a:ext cx="228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0D1226"/>
                </a:solidFill>
                <a:latin typeface="Calibri"/>
              </a:rPr>
              <a:t>›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74520" y="1143000"/>
            <a:ext cx="1298448" cy="1188720"/>
          </a:xfrm>
          <a:prstGeom prst="rect">
            <a:avLst/>
          </a:prstGeom>
          <a:solidFill>
            <a:srgbClr val="EAF1FD"/>
          </a:solidFill>
          <a:ln w="9525">
            <a:solidFill>
              <a:srgbClr val="2F6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74520" y="1216152"/>
            <a:ext cx="1298448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0D1226"/>
                </a:solidFill>
                <a:latin typeface="Calibri"/>
              </a:rPr>
              <a:t>Rank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20" y="1600200"/>
            <a:ext cx="1298448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 i="0">
                <a:solidFill>
                  <a:srgbClr val="556070"/>
                </a:solidFill>
                <a:latin typeface="Calibri"/>
              </a:rPr>
              <a:t>embed + score</a:t>
            </a:r>
          </a:p>
          <a:p>
            <a:pPr algn="ctr">
              <a:spcAft>
                <a:spcPts val="400"/>
              </a:spcAft>
            </a:pPr>
            <a:r>
              <a:rPr sz="1050" b="0" i="0">
                <a:solidFill>
                  <a:srgbClr val="556070"/>
                </a:solidFill>
                <a:latin typeface="Calibri"/>
              </a:rPr>
              <a:t>the frontier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54680" y="1481328"/>
            <a:ext cx="228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0D1226"/>
                </a:solidFill>
                <a:latin typeface="Calibri"/>
              </a:rPr>
              <a:t>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37560" y="1143000"/>
            <a:ext cx="1298448" cy="1188720"/>
          </a:xfrm>
          <a:prstGeom prst="rect">
            <a:avLst/>
          </a:prstGeom>
          <a:solidFill>
            <a:srgbClr val="EAF1FD"/>
          </a:solidFill>
          <a:ln w="9525">
            <a:solidFill>
              <a:srgbClr val="2F6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216152"/>
            <a:ext cx="1298448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0D1226"/>
                </a:solidFill>
                <a:latin typeface="Calibri"/>
              </a:rPr>
              <a:t>Read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600200"/>
            <a:ext cx="1298448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 i="0">
                <a:solidFill>
                  <a:srgbClr val="556070"/>
                </a:solidFill>
                <a:latin typeface="Calibri"/>
              </a:rPr>
              <a:t>PDF → GROBID</a:t>
            </a:r>
          </a:p>
          <a:p>
            <a:pPr algn="ctr">
              <a:spcAft>
                <a:spcPts val="400"/>
              </a:spcAft>
            </a:pPr>
            <a:r>
              <a:rPr sz="1050" b="0" i="0">
                <a:solidFill>
                  <a:srgbClr val="556070"/>
                </a:solidFill>
                <a:latin typeface="Calibri"/>
              </a:rPr>
              <a:t>sections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1481328"/>
            <a:ext cx="228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0D1226"/>
                </a:solidFill>
                <a:latin typeface="Calibri"/>
              </a:rPr>
              <a:t>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00600" y="1143000"/>
            <a:ext cx="1298448" cy="1188720"/>
          </a:xfrm>
          <a:prstGeom prst="rect">
            <a:avLst/>
          </a:prstGeom>
          <a:solidFill>
            <a:srgbClr val="EAF1FD"/>
          </a:solidFill>
          <a:ln w="9525">
            <a:solidFill>
              <a:srgbClr val="2F6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00600" y="1216152"/>
            <a:ext cx="1298448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0D1226"/>
                </a:solidFill>
                <a:latin typeface="Calibri"/>
              </a:rPr>
              <a:t>Extract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0600" y="1600200"/>
            <a:ext cx="1298448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 i="0">
                <a:solidFill>
                  <a:srgbClr val="556070"/>
                </a:solidFill>
                <a:latin typeface="Calibri"/>
              </a:rPr>
              <a:t>claims with</a:t>
            </a:r>
          </a:p>
          <a:p>
            <a:pPr algn="ctr">
              <a:spcAft>
                <a:spcPts val="400"/>
              </a:spcAft>
            </a:pPr>
            <a:r>
              <a:rPr sz="1050" b="0" i="0">
                <a:solidFill>
                  <a:srgbClr val="556070"/>
                </a:solidFill>
                <a:latin typeface="Calibri"/>
              </a:rPr>
              <a:t>verbatim quotes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80760" y="1481328"/>
            <a:ext cx="228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0D1226"/>
                </a:solidFill>
                <a:latin typeface="Calibri"/>
              </a:rPr>
              <a:t>›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63640" y="1143000"/>
            <a:ext cx="1298448" cy="1188720"/>
          </a:xfrm>
          <a:prstGeom prst="rect">
            <a:avLst/>
          </a:prstGeom>
          <a:solidFill>
            <a:srgbClr val="FDF4E3"/>
          </a:solidFill>
          <a:ln w="9525">
            <a:solidFill>
              <a:srgbClr val="B779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63640" y="1216152"/>
            <a:ext cx="1298448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0D1226"/>
                </a:solidFill>
                <a:latin typeface="Calibri"/>
              </a:rPr>
              <a:t>Ground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1600200"/>
            <a:ext cx="1298448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 i="0">
                <a:solidFill>
                  <a:srgbClr val="556070"/>
                </a:solidFill>
                <a:latin typeface="Calibri"/>
              </a:rPr>
              <a:t>quote must match</a:t>
            </a:r>
          </a:p>
          <a:p>
            <a:pPr algn="ctr">
              <a:spcAft>
                <a:spcPts val="400"/>
              </a:spcAft>
            </a:pPr>
            <a:r>
              <a:rPr sz="1050" b="0" i="0">
                <a:solidFill>
                  <a:srgbClr val="556070"/>
                </a:solidFill>
                <a:latin typeface="Calibri"/>
              </a:rPr>
              <a:t>source exactly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43800" y="1481328"/>
            <a:ext cx="228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0D1226"/>
                </a:solidFill>
                <a:latin typeface="Calibri"/>
              </a:rPr>
              <a:t>›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26679" y="1143000"/>
            <a:ext cx="1298448" cy="1188720"/>
          </a:xfrm>
          <a:prstGeom prst="rect">
            <a:avLst/>
          </a:prstGeom>
          <a:solidFill>
            <a:srgbClr val="EAF1FD"/>
          </a:solidFill>
          <a:ln w="9525">
            <a:solidFill>
              <a:srgbClr val="2F6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26679" y="1216152"/>
            <a:ext cx="1298448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0D1226"/>
                </a:solidFill>
                <a:latin typeface="Calibri"/>
              </a:rPr>
              <a:t>Judge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26679" y="1600200"/>
            <a:ext cx="1298448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 i="0">
                <a:solidFill>
                  <a:srgbClr val="556070"/>
                </a:solidFill>
                <a:latin typeface="Calibri"/>
              </a:rPr>
              <a:t>claim-pair</a:t>
            </a:r>
          </a:p>
          <a:p>
            <a:pPr algn="ctr">
              <a:spcAft>
                <a:spcPts val="400"/>
              </a:spcAft>
            </a:pPr>
            <a:r>
              <a:rPr sz="1050" b="0" i="0">
                <a:solidFill>
                  <a:srgbClr val="556070"/>
                </a:solidFill>
                <a:latin typeface="Calibri"/>
              </a:rPr>
              <a:t>relations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06840" y="1481328"/>
            <a:ext cx="228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0D1226"/>
                </a:solidFill>
                <a:latin typeface="Calibri"/>
              </a:rPr>
              <a:t>›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89720" y="1143000"/>
            <a:ext cx="1298448" cy="1188720"/>
          </a:xfrm>
          <a:prstGeom prst="rect">
            <a:avLst/>
          </a:prstGeom>
          <a:solidFill>
            <a:srgbClr val="EAF1FD"/>
          </a:solidFill>
          <a:ln w="9525">
            <a:solidFill>
              <a:srgbClr val="2F6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89720" y="1216152"/>
            <a:ext cx="1298448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0D1226"/>
                </a:solidFill>
                <a:latin typeface="Calibri"/>
              </a:rPr>
              <a:t>Expand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89720" y="1600200"/>
            <a:ext cx="1298448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 i="0">
                <a:solidFill>
                  <a:srgbClr val="556070"/>
                </a:solidFill>
                <a:latin typeface="Calibri"/>
              </a:rPr>
              <a:t>references +</a:t>
            </a:r>
          </a:p>
          <a:p>
            <a:pPr algn="ctr">
              <a:spcAft>
                <a:spcPts val="400"/>
              </a:spcAft>
            </a:pPr>
            <a:r>
              <a:rPr sz="1050" b="0" i="0">
                <a:solidFill>
                  <a:srgbClr val="556070"/>
                </a:solidFill>
                <a:latin typeface="Calibri"/>
              </a:rPr>
              <a:t>citations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69880" y="1481328"/>
            <a:ext cx="228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0D1226"/>
                </a:solidFill>
                <a:latin typeface="Calibri"/>
              </a:rPr>
              <a:t>›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652760" y="1143000"/>
            <a:ext cx="1298448" cy="1188720"/>
          </a:xfrm>
          <a:prstGeom prst="rect">
            <a:avLst/>
          </a:prstGeom>
          <a:solidFill>
            <a:srgbClr val="EAF1FD"/>
          </a:solidFill>
          <a:ln w="9525">
            <a:solidFill>
              <a:srgbClr val="2F6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652760" y="1216152"/>
            <a:ext cx="1298448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0D1226"/>
                </a:solidFill>
                <a:latin typeface="Calibri"/>
              </a:rPr>
              <a:t>Re-score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52760" y="1600200"/>
            <a:ext cx="1298448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 i="0">
                <a:solidFill>
                  <a:srgbClr val="556070"/>
                </a:solidFill>
                <a:latin typeface="Calibri"/>
              </a:rPr>
              <a:t>what to read</a:t>
            </a:r>
          </a:p>
          <a:p>
            <a:pPr algn="ctr">
              <a:spcAft>
                <a:spcPts val="400"/>
              </a:spcAft>
            </a:pPr>
            <a:r>
              <a:rPr sz="1050" b="0" i="0">
                <a:solidFill>
                  <a:srgbClr val="556070"/>
                </a:solidFill>
                <a:latin typeface="Calibri"/>
              </a:rPr>
              <a:t>next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2423160"/>
            <a:ext cx="113385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 i="0">
                <a:solidFill>
                  <a:srgbClr val="0D1226"/>
                </a:solidFill>
                <a:latin typeface="Calibri"/>
              </a:rPr>
              <a:t>↺  repeat until the budget or saturation stops it  →  then: concepts → 5 gap detectors → one-pass grounded report → dashboard + chat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1480" y="3154680"/>
            <a:ext cx="5577840" cy="2926080"/>
          </a:xfrm>
          <a:prstGeom prst="rect">
            <a:avLst/>
          </a:prstGeom>
          <a:solidFill>
            <a:srgbClr val="EA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02920" y="3035808"/>
            <a:ext cx="3227832" cy="256032"/>
          </a:xfrm>
          <a:prstGeom prst="rect">
            <a:avLst/>
          </a:prstGeom>
          <a:solidFill>
            <a:srgbClr val="2F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2920" y="3044952"/>
            <a:ext cx="3227832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SCORING THE FRONTIER (what to read next)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" y="3383280"/>
            <a:ext cx="5212079" cy="2606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F2937"/>
                </a:solidFill>
                <a:latin typeface="Calibri"/>
              </a:rPr>
              <a:t>relevance to the query  ·  recency  ·  novelty vs what was read</a:t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F2937"/>
                </a:solidFill>
                <a:latin typeface="Calibri"/>
              </a:rPr>
              <a:t>PageRank in the growing citation graph  ·  contest (disputed claims)</a:t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F2937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F2937"/>
                </a:solidFill>
                <a:latin typeface="Calibri"/>
              </a:rPr>
              <a:t>Three bands on arrival: drop  /  park  /  queue. A parked paper whose</a:t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F2937"/>
                </a:solidFill>
                <a:latin typeface="Calibri"/>
              </a:rPr>
              <a:t>citations bridge two clusters can be promoted (bridge promotion).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63640" y="3154680"/>
            <a:ext cx="5486400" cy="2926080"/>
          </a:xfrm>
          <a:prstGeom prst="rect">
            <a:avLst/>
          </a:prstGeom>
          <a:solidFill>
            <a:srgbClr val="E7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355079" y="3035808"/>
            <a:ext cx="1440180" cy="256032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55079" y="3044952"/>
            <a:ext cx="144018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BUILT AND RUNNING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46520" y="3383280"/>
            <a:ext cx="5120640" cy="2606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F2937"/>
                </a:solidFill>
                <a:latin typeface="Calibri"/>
              </a:rPr>
              <a:t>Python · FastAPI · React + Cytoscape dashboard (live graph, report, chat)</a:t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F2937"/>
                </a:solidFill>
                <a:latin typeface="Calibri"/>
              </a:rPr>
              <a:t>Neo4j (graph) · Qdrant (vectors) · SQLite / Postgres (run state)</a:t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F2937"/>
                </a:solidFill>
                <a:latin typeface="Calibri"/>
              </a:rPr>
              <a:t>GROBID full-text parsing (hosted Space) · local bge embeddings</a:t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F2937"/>
                </a:solidFill>
                <a:latin typeface="Calibri"/>
              </a:rPr>
              <a:t>LLMs on free tiers: Groq gpt-oss (claims, judge), Gemini (report)</a:t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F2937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F2937"/>
                </a:solidFill>
                <a:latin typeface="Calibri"/>
              </a:rPr>
              <a:t>One command to run: atlas serve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46304"/>
            <a:ext cx="1152144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0D1226"/>
                </a:solidFill>
                <a:latin typeface="Cambria"/>
              </a:rPr>
              <a:t>Trust by Construction: Four Rules the Code Enforces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0D1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6519672"/>
            <a:ext cx="104241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AEB6CC"/>
                </a:solidFill>
                <a:latin typeface="Calibri"/>
              </a:rPr>
              <a:t>ATLAS  —  Agentic Technology for Literature Analysis and Synthesis   ·   Siddhesh Acharya, Mrigakshi Kaul, Suhani Singh   ·   Final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501384"/>
            <a:ext cx="5029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868680"/>
            <a:ext cx="5577840" cy="2377440"/>
          </a:xfrm>
          <a:prstGeom prst="rect">
            <a:avLst/>
          </a:prstGeom>
          <a:solidFill>
            <a:srgbClr val="FC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749808"/>
            <a:ext cx="1595628" cy="256032"/>
          </a:xfrm>
          <a:prstGeom prst="rect">
            <a:avLst/>
          </a:prstGeom>
          <a:solidFill>
            <a:srgbClr val="E24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758952"/>
            <a:ext cx="1595628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NO UNVERIFIED QUOTE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97280"/>
            <a:ext cx="5212079" cy="2057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F2937"/>
                </a:solidFill>
                <a:latin typeface="Calibri"/>
              </a:rPr>
              <a:t>Every claim carries a quote that must match the normalised source text character for character. Failures are dropped and logged — never repaired by the LLM.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868680"/>
            <a:ext cx="5577840" cy="2377440"/>
          </a:xfrm>
          <a:prstGeom prst="rect">
            <a:avLst/>
          </a:prstGeom>
          <a:solidFill>
            <a:srgbClr val="FDF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749808"/>
            <a:ext cx="1984248" cy="256032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758952"/>
            <a:ext cx="1984248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NO GAP WITHOUT CITATIONS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097280"/>
            <a:ext cx="5212079" cy="2057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F2937"/>
                </a:solidFill>
                <a:latin typeface="Calibri"/>
              </a:rPr>
              <a:t>A research gap that cannot name the papers bounding it is filtered out before it is ranked, reported or shown.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566160"/>
            <a:ext cx="5577840" cy="2377440"/>
          </a:xfrm>
          <a:prstGeom prst="rect">
            <a:avLst/>
          </a:prstGeom>
          <a:solidFill>
            <a:srgbClr val="EA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447288"/>
            <a:ext cx="1906524" cy="256032"/>
          </a:xfrm>
          <a:prstGeom prst="rect">
            <a:avLst/>
          </a:prstGeom>
          <a:solidFill>
            <a:srgbClr val="2F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456432"/>
            <a:ext cx="1906524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NOTHING IT DID NOT READ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794760"/>
            <a:ext cx="5212079" cy="2057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F2937"/>
                </a:solidFill>
                <a:latin typeface="Calibri"/>
              </a:rPr>
              <a:t>The chat retrieves only from this run's claims. With nothing relevant it refuses — decided by retrieval, before any LLM is called.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72200" y="3566160"/>
            <a:ext cx="5577840" cy="2377440"/>
          </a:xfrm>
          <a:prstGeom prst="rect">
            <a:avLst/>
          </a:prstGeom>
          <a:solidFill>
            <a:srgbClr val="E7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3640" y="3447288"/>
            <a:ext cx="896112" cy="256032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63640" y="3456432"/>
            <a:ext cx="896112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REPLAYABLE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3794760"/>
            <a:ext cx="5212079" cy="2057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F2937"/>
                </a:solidFill>
                <a:latin typeface="Calibri"/>
              </a:rPr>
              <a:t>Every LLM and API call is cached on its exact input. A re-run of the same query and config reproduces the run — measured, not assumed.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46304"/>
            <a:ext cx="1152144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0D1226"/>
                </a:solidFill>
                <a:latin typeface="Cambria"/>
              </a:rPr>
              <a:t>Demo 1 — The Graph ATLAS Builds While It Reads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0D1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6519672"/>
            <a:ext cx="104241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AEB6CC"/>
                </a:solidFill>
                <a:latin typeface="Calibri"/>
              </a:rPr>
              <a:t>ATLAS  —  Agentic Technology for Literature Analysis and Synthesis   ·   Siddhesh Acharya, Mrigakshi Kaul, Suhani Singh   ·   Final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501384"/>
            <a:ext cx="5029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pic>
        <p:nvPicPr>
          <p:cNvPr id="6" name="Picture 5" descr="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77240"/>
            <a:ext cx="7680960" cy="4320540"/>
          </a:xfrm>
          <a:prstGeom prst="rect">
            <a:avLst/>
          </a:prstGeom>
          <a:ln>
            <a:solidFill>
              <a:srgbClr val="D0D5DD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365760" y="5143500"/>
            <a:ext cx="76809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1">
                <a:solidFill>
                  <a:srgbClr val="556070"/>
                </a:solidFill>
                <a:latin typeface="Calibri"/>
              </a:rPr>
              <a:t>Run a0e32253 (IoT devices for women's safety) in the dashboard's light (projector) theme, 1920×1080.</a:t>
            </a:r>
          </a:p>
        </p:txBody>
      </p:sp>
      <p:sp>
        <p:nvSpPr>
          <p:cNvPr id="8" name="Rectangle 7"/>
          <p:cNvSpPr/>
          <p:nvPr/>
        </p:nvSpPr>
        <p:spPr>
          <a:xfrm>
            <a:off x="8321040" y="868680"/>
            <a:ext cx="3520440" cy="5120640"/>
          </a:xfrm>
          <a:prstGeom prst="rect">
            <a:avLst/>
          </a:prstGeom>
          <a:solidFill>
            <a:srgbClr val="EA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412480" y="749808"/>
            <a:ext cx="1207008" cy="256032"/>
          </a:xfrm>
          <a:prstGeom prst="rect">
            <a:avLst/>
          </a:prstGeom>
          <a:solidFill>
            <a:srgbClr val="2F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0" y="758952"/>
            <a:ext cx="1207008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HOW TO READ 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19" y="1097280"/>
            <a:ext cx="3154680" cy="4800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F2937"/>
                </a:solidFill>
                <a:latin typeface="Calibri"/>
              </a:rPr>
              <a:t>Ringed, labelled nodes: the 15 papers ATLAS read.</a:t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F2937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F2937"/>
                </a:solidFill>
                <a:latin typeface="Calibri"/>
              </a:rPr>
              <a:t>Faded nodes: papers they cite — discovered, not read.</a:t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F2937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F2937"/>
                </a:solidFill>
                <a:latin typeface="Calibri"/>
              </a:rPr>
              <a:t>Size = PageRank.  Colour = citation cluster.</a:t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F2937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F2937"/>
                </a:solidFill>
                <a:latin typeface="Calibri"/>
              </a:rPr>
              <a:t>Edges: grey cites · green supports · blue extends · dashed different scope · red contradicts.</a:t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F2937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F2937"/>
                </a:solidFill>
                <a:latin typeface="Calibri"/>
              </a:rPr>
              <a:t>Built live, paper by paper, streamed to the browser.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46304"/>
            <a:ext cx="1152144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0D1226"/>
                </a:solidFill>
                <a:latin typeface="Cambria"/>
              </a:rPr>
              <a:t>Demo 2 — Every Claim Points to Its Exact Sentence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0D1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6519672"/>
            <a:ext cx="104241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AEB6CC"/>
                </a:solidFill>
                <a:latin typeface="Calibri"/>
              </a:rPr>
              <a:t>ATLAS  —  Agentic Technology for Literature Analysis and Synthesis   ·   Siddhesh Acharya, Mrigakshi Kaul, Suhani Singh   ·   Final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501384"/>
            <a:ext cx="5029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pic>
        <p:nvPicPr>
          <p:cNvPr id="6" name="Picture 5" descr="paper_high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77240"/>
            <a:ext cx="7680960" cy="4320540"/>
          </a:xfrm>
          <a:prstGeom prst="rect">
            <a:avLst/>
          </a:prstGeom>
          <a:ln>
            <a:solidFill>
              <a:srgbClr val="D0D5DD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365760" y="5143500"/>
            <a:ext cx="76809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1">
                <a:solidFill>
                  <a:srgbClr val="556070"/>
                </a:solidFill>
                <a:latin typeface="Calibri"/>
              </a:rPr>
              <a:t>Click a claim: its quote lights up inside the text ATLAS actually read.</a:t>
            </a:r>
          </a:p>
        </p:txBody>
      </p:sp>
      <p:sp>
        <p:nvSpPr>
          <p:cNvPr id="8" name="Rectangle 7"/>
          <p:cNvSpPr/>
          <p:nvPr/>
        </p:nvSpPr>
        <p:spPr>
          <a:xfrm>
            <a:off x="8321040" y="868680"/>
            <a:ext cx="3520440" cy="5120640"/>
          </a:xfrm>
          <a:prstGeom prst="rect">
            <a:avLst/>
          </a:prstGeom>
          <a:solidFill>
            <a:srgbClr val="E7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412480" y="749808"/>
            <a:ext cx="1595628" cy="256032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0" y="758952"/>
            <a:ext cx="1595628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WHAT THE BOARD SEES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19" y="1097280"/>
            <a:ext cx="3154680" cy="4800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F2937"/>
                </a:solidFill>
                <a:latin typeface="Calibri"/>
              </a:rPr>
              <a:t>Left: the claims ATLAS extracted from this paper.</a:t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F2937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F2937"/>
                </a:solidFill>
                <a:latin typeface="Calibri"/>
              </a:rPr>
              <a:t>Right: the normalised text it read, every verified quote highlighted in place.</a:t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F2937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F2937"/>
                </a:solidFill>
                <a:latin typeface="Calibri"/>
              </a:rPr>
              <a:t>'Quote found verbatim in source' is recomputed in the browser from the stored offsets — the grounding gate made visible.</a:t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F2937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F2937"/>
                </a:solidFill>
                <a:latin typeface="Calibri"/>
              </a:rPr>
              <a:t>Demo 3: the chat refuses 'Who won the 2018 FIFA World Cup?' — 'ATLAS did not read anything that addresses this.'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46304"/>
            <a:ext cx="1152144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0D1226"/>
                </a:solidFill>
                <a:latin typeface="Cambria"/>
              </a:rPr>
              <a:t>Result 1 — Does the Loop Read Differently from One-Shot Retrieval?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0D1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6519672"/>
            <a:ext cx="104241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AEB6CC"/>
                </a:solidFill>
                <a:latin typeface="Calibri"/>
              </a:rPr>
              <a:t>ATLAS  —  Agentic Technology for Literature Analysis and Synthesis   ·   Siddhesh Acharya, Mrigakshi Kaul, Suhani Singh   ·   Final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501384"/>
            <a:ext cx="5029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868680"/>
          <a:ext cx="7589520" cy="1975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463040"/>
                <a:gridCol w="1645920"/>
                <a:gridCol w="1737360"/>
              </a:tblGrid>
              <a:tr h="329184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Run (query, papers read)</a:t>
                      </a:r>
                    </a:p>
                  </a:txBody>
                  <a:tcPr>
                    <a:solidFill>
                      <a:srgbClr val="0D12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Overlap with</a:t>
                      </a:r>
                    </a:p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cosine top-25</a:t>
                      </a:r>
                    </a:p>
                  </a:txBody>
                  <a:tcPr>
                    <a:solidFill>
                      <a:srgbClr val="0D12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Clusters</a:t>
                      </a:r>
                    </a:p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ATLAS / baseline*</a:t>
                      </a:r>
                    </a:p>
                  </a:txBody>
                  <a:tcPr>
                    <a:solidFill>
                      <a:srgbClr val="0D12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References reached</a:t>
                      </a:r>
                    </a:p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ATLAS / baseline*</a:t>
                      </a:r>
                    </a:p>
                  </a:txBody>
                  <a:tcPr>
                    <a:solidFill>
                      <a:srgbClr val="0D122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IoT safety, 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53%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8 / 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115 / 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IoT safety, 15</a:t>
                      </a:r>
                    </a:p>
                  </a:txBody>
                  <a:tcPr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40%</a:t>
                      </a:r>
                    </a:p>
                  </a:txBody>
                  <a:tcPr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9 / 9</a:t>
                      </a:r>
                    </a:p>
                  </a:txBody>
                  <a:tcPr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147 / 92</a:t>
                      </a:r>
                    </a:p>
                  </a:txBody>
                  <a:tcPr>
                    <a:solidFill>
                      <a:srgbClr val="F3F5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Federated learning, 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36%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10 / 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355 / 332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Federated learning, 13 (GROBID)</a:t>
                      </a:r>
                    </a:p>
                  </a:txBody>
                  <a:tcPr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38%</a:t>
                      </a:r>
                    </a:p>
                  </a:txBody>
                  <a:tcPr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11 / 9</a:t>
                      </a:r>
                    </a:p>
                  </a:txBody>
                  <a:tcPr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452 / 332</a:t>
                      </a:r>
                    </a:p>
                  </a:txBody>
                  <a:tcPr>
                    <a:solidFill>
                      <a:srgbClr val="F3F5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Gut microbiome, 9 (GROBID)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56%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7 / 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381 / 365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5760" y="3310128"/>
            <a:ext cx="75895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1">
                <a:solidFill>
                  <a:srgbClr val="556070"/>
                </a:solidFill>
                <a:latin typeface="Calibri"/>
              </a:rPr>
              <a:t>* baseline cut to the same number of papers; one OpenAlex citation graph and one Louvain clustering for both sets.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0" y="868680"/>
            <a:ext cx="3566160" cy="2468880"/>
          </a:xfrm>
          <a:prstGeom prst="rect">
            <a:avLst/>
          </a:prstGeom>
          <a:solidFill>
            <a:srgbClr val="E7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321040" y="749808"/>
            <a:ext cx="429768" cy="256032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758952"/>
            <a:ext cx="429768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HELD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1097280"/>
            <a:ext cx="3200400" cy="21488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2937"/>
                </a:solidFill>
                <a:latin typeface="Calibri"/>
              </a:rPr>
              <a:t>ATLAS reads a substantially different set (36–56% overlap) and reaches 4–60% more of the reference network.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3611880"/>
            <a:ext cx="3566160" cy="2468880"/>
          </a:xfrm>
          <a:prstGeom prst="rect">
            <a:avLst/>
          </a:prstGeom>
          <a:solidFill>
            <a:srgbClr val="FDF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321040" y="3493008"/>
            <a:ext cx="818388" cy="256032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3502152"/>
            <a:ext cx="818388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NOT SHOWN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3840480"/>
            <a:ext cx="3200400" cy="21488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2937"/>
                </a:solidFill>
                <a:latin typeface="Calibri"/>
              </a:rPr>
              <a:t>At 9–15 papers it is not broader in citation-cluster coverage (−1, 0, +2, +2, −1). Bridge promotion never fired at this scale.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886200"/>
            <a:ext cx="7589520" cy="2194560"/>
          </a:xfrm>
          <a:prstGeom prst="rect">
            <a:avLst/>
          </a:prstGeom>
          <a:solidFill>
            <a:srgbClr val="FC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3767328"/>
            <a:ext cx="1517904" cy="256032"/>
          </a:xfrm>
          <a:prstGeom prst="rect">
            <a:avLst/>
          </a:prstGeom>
          <a:solidFill>
            <a:srgbClr val="E24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776472"/>
            <a:ext cx="1517904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CORRECTION WE MADE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114800"/>
            <a:ext cx="7223760" cy="187451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2937"/>
                </a:solidFill>
                <a:latin typeface="Calibri"/>
              </a:rPr>
              <a:t>An earlier draft claimed '14 clusters vs ~1 for the baseline'. That compared two different metrics (citation clusters vs text-similarity clusters), on vectors a bug had overwritten. We found it, fixed both, and withdrew the figure. The table is the like-for-like result.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46304"/>
            <a:ext cx="1152144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0D1226"/>
                </a:solidFill>
                <a:latin typeface="Cambria"/>
              </a:rPr>
              <a:t>Result 2 — Are the Quotes Real?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0D1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6519672"/>
            <a:ext cx="104241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AEB6CC"/>
                </a:solidFill>
                <a:latin typeface="Calibri"/>
              </a:rPr>
              <a:t>ATLAS  —  Agentic Technology for Literature Analysis and Synthesis   ·   Siddhesh Acharya, Mrigakshi Kaul, Suhani Singh   ·   Final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501384"/>
            <a:ext cx="5029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27432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0D1226"/>
                </a:solidFill>
                <a:latin typeface="Cambria"/>
              </a:rPr>
              <a:t>49 /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72768"/>
            <a:ext cx="27432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1F2937"/>
                </a:solidFill>
                <a:latin typeface="Calibri"/>
              </a:rPr>
              <a:t>quotes verbatim (98%)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74519"/>
            <a:ext cx="274320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556070"/>
                </a:solidFill>
                <a:latin typeface="Calibri"/>
              </a:rPr>
              <a:t>Each source re-fetched and checked as an exact substring.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914400"/>
            <a:ext cx="27432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E24B4A"/>
                </a:solidFill>
                <a:latin typeface="Cambria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1572768"/>
            <a:ext cx="27432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1F2937"/>
                </a:solidFill>
                <a:latin typeface="Calibri"/>
              </a:rPr>
              <a:t>live edits caught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1874519"/>
            <a:ext cx="274320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556070"/>
                </a:solidFill>
                <a:latin typeface="Calibri"/>
              </a:rPr>
              <a:t>Quotes the old fuzzy match let through: 'is set too high', 'a'→'an', a dropped 'that', a PDF page number.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914400"/>
            <a:ext cx="27432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1E8E5A"/>
                </a:solidFill>
                <a:latin typeface="Cambria"/>
              </a:rPr>
              <a:t>3 / 198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1572768"/>
            <a:ext cx="27432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1F2937"/>
                </a:solidFill>
                <a:latin typeface="Calibri"/>
              </a:rPr>
              <a:t>claims dropped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1874519"/>
            <a:ext cx="274320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556070"/>
                </a:solidFill>
                <a:latin typeface="Calibri"/>
              </a:rPr>
              <a:t>Federated-learning run with GROBID — the gate rejects little once text is clean.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0" y="914400"/>
            <a:ext cx="265176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0D1226"/>
                </a:solidFill>
                <a:latin typeface="Cambria"/>
              </a:rP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1572768"/>
            <a:ext cx="26517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1F2937"/>
                </a:solidFill>
                <a:latin typeface="Calibri"/>
              </a:rPr>
              <a:t>repairs by the LLM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1874519"/>
            <a:ext cx="265176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556070"/>
                </a:solidFill>
                <a:latin typeface="Calibri"/>
              </a:rPr>
              <a:t>A failed quote is dropped and logged, never rewritten.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063240"/>
            <a:ext cx="5577840" cy="3017520"/>
          </a:xfrm>
          <a:prstGeom prst="rect">
            <a:avLst/>
          </a:prstGeom>
          <a:solidFill>
            <a:srgbClr val="EA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2944368"/>
            <a:ext cx="1906524" cy="256032"/>
          </a:xfrm>
          <a:prstGeom prst="rect">
            <a:avLst/>
          </a:prstGeom>
          <a:solidFill>
            <a:srgbClr val="2F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2953512"/>
            <a:ext cx="1906524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THE ONE FAILURE, TRACED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291840"/>
            <a:ext cx="5212079" cy="269747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F2937"/>
                </a:solidFill>
                <a:latin typeface="Calibri"/>
              </a:rPr>
              <a:t>The quote said 'the last few 5 layers'. The paper says 'the last few layers'.</a:t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F2937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F2937"/>
                </a:solidFill>
                <a:latin typeface="Calibri"/>
              </a:rPr>
              <a:t>Checking the PDF: page 4 ends mid-sentence, page 5 opens with its number '5'. The PDF parser kept it; the LLM quoted what ATLAS read, faithfully.</a:t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F2937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F2937"/>
                </a:solidFill>
                <a:latin typeface="Calibri"/>
              </a:rPr>
              <a:t>Fixed at the source: page numbers are stripped.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3063240"/>
            <a:ext cx="5577840" cy="3017520"/>
          </a:xfrm>
          <a:prstGeom prst="rect">
            <a:avLst/>
          </a:prstGeom>
          <a:solidFill>
            <a:srgbClr val="E7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09359" y="2944368"/>
            <a:ext cx="1828800" cy="256032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59" y="2953512"/>
            <a:ext cx="182880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THE LOOPHOLE WE CLOSED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291840"/>
            <a:ext cx="5212079" cy="269747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F2937"/>
                </a:solidFill>
                <a:latin typeface="Calibri"/>
              </a:rPr>
              <a:t>A 97%-similarity fallback existed for PDF noise — but it also accepted 'increased'→'decreased' or 'p &gt; 0.05'→'p &lt; 0.05'.</a:t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F2937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F2937"/>
                </a:solidFill>
                <a:latin typeface="Calibri"/>
              </a:rPr>
              <a:t>Now a fuzzy match must be exact once only spacing, hyphenation, quote marks, case and reference markers are ignored. Checked against every stored fuzzy match before shipping.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46304"/>
            <a:ext cx="1152144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0D1226"/>
                </a:solidFill>
                <a:latin typeface="Cambria"/>
              </a:rPr>
              <a:t>Result 3 — How Papers Relate: The Weakest Part, Measured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0D1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6519672"/>
            <a:ext cx="104241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AEB6CC"/>
                </a:solidFill>
                <a:latin typeface="Calibri"/>
              </a:rPr>
              <a:t>ATLAS  —  Agentic Technology for Literature Analysis and Synthesis   ·   Siddhesh Acharya, Mrigakshi Kaul, Suhani Singh   ·   Final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501384"/>
            <a:ext cx="5029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868680"/>
          <a:ext cx="5852160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280160"/>
                <a:gridCol w="1280160"/>
              </a:tblGrid>
              <a:tr h="329184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Compared (12 single-label pairs)</a:t>
                      </a:r>
                    </a:p>
                  </a:txBody>
                  <a:tcPr>
                    <a:solidFill>
                      <a:srgbClr val="0D12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Agreement</a:t>
                      </a:r>
                    </a:p>
                  </a:txBody>
                  <a:tcPr>
                    <a:solidFill>
                      <a:srgbClr val="0D12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Cohen's κ</a:t>
                      </a:r>
                    </a:p>
                  </a:txBody>
                  <a:tcPr>
                    <a:solidFill>
                      <a:srgbClr val="0D122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Human vs AI annotator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2 / 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−0.17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Human vs ATLAS judge</a:t>
                      </a:r>
                    </a:p>
                  </a:txBody>
                  <a:tcPr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2 / 12</a:t>
                      </a:r>
                    </a:p>
                  </a:txBody>
                  <a:tcPr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−0.05</a:t>
                      </a:r>
                    </a:p>
                  </a:txBody>
                  <a:tcPr>
                    <a:solidFill>
                      <a:srgbClr val="F3F5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AI annotator vs ATLAS judge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5 / 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0.22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365760" y="2606040"/>
            <a:ext cx="5852160" cy="3474720"/>
          </a:xfrm>
          <a:prstGeom prst="rect">
            <a:avLst/>
          </a:prstGeom>
          <a:solidFill>
            <a:srgbClr val="EA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487168"/>
            <a:ext cx="1284732" cy="256032"/>
          </a:xfrm>
          <a:prstGeom prst="rect">
            <a:avLst/>
          </a:prstGeom>
          <a:solidFill>
            <a:srgbClr val="2F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496312"/>
            <a:ext cx="1284732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WHAT THIS MEANS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834640"/>
            <a:ext cx="5486400" cy="315467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2937"/>
                </a:solidFill>
                <a:latin typeface="Calibri"/>
              </a:rPr>
              <a:t>Even two annotators do not agree whether two claims 'support', 'extend' or merely 'differ in scope' — the human marked 3 of 15 pairs as undecided.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2937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2937"/>
                </a:solidFill>
                <a:latin typeface="Calibri"/>
              </a:rPr>
              <a:t>So a single 'judge accuracy' number (57% or 36%, depending on the annotator) is not trustworthy. The label taxonomy needs sharper definitions before the judge can be scored.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0" y="868680"/>
            <a:ext cx="5303520" cy="2468880"/>
          </a:xfrm>
          <a:prstGeom prst="rect">
            <a:avLst/>
          </a:prstGeom>
          <a:solidFill>
            <a:srgbClr val="FC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79" y="749808"/>
            <a:ext cx="1517904" cy="256032"/>
          </a:xfrm>
          <a:prstGeom prst="rect">
            <a:avLst/>
          </a:prstGeom>
          <a:solidFill>
            <a:srgbClr val="E24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79" y="758952"/>
            <a:ext cx="1517904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THE CONTRADICTIONS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1097280"/>
            <a:ext cx="4937759" cy="21488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Calibri"/>
              </a:rPr>
              <a:t>IoT runs: the only one — 'uses a NodeMCU' vs 'uses a Raspberry Pi Pico' — was false: two independent devices, not a disagreement.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Calibri"/>
              </a:rPr>
              <a:t>Gut microbiome: 'repeatedly associated with depression' vs 'clinical results are mixed' — same topic, a plausible tension for a human to judge.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92240" y="3611880"/>
            <a:ext cx="5303520" cy="2468880"/>
          </a:xfrm>
          <a:prstGeom prst="rect">
            <a:avLst/>
          </a:prstGeom>
          <a:solidFill>
            <a:srgbClr val="FDF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79" y="3493008"/>
            <a:ext cx="1129284" cy="256032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79" y="3502152"/>
            <a:ext cx="1129284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WHAT WE TRIED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3840480"/>
            <a:ext cx="4937759" cy="21488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2937"/>
                </a:solidFill>
                <a:latin typeface="Calibri"/>
              </a:rPr>
              <a:t>A stricter prompt (judge v2) removed the false contradiction and false 'extends' — but also lost 8 of 9 genuine 'supports'. A trade-off, not a fix; runs keep v1 and the result is reported as such.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46304"/>
            <a:ext cx="1152144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0D1226"/>
                </a:solidFill>
                <a:latin typeface="Cambria"/>
              </a:rPr>
              <a:t>Result 4 — Research Gaps and Full Text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0D1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6519672"/>
            <a:ext cx="104241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AEB6CC"/>
                </a:solidFill>
                <a:latin typeface="Calibri"/>
              </a:rPr>
              <a:t>ATLAS  —  Agentic Technology for Literature Analysis and Synthesis   ·   Siddhesh Acharya, Mrigakshi Kaul, Suhani Singh   ·   Final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501384"/>
            <a:ext cx="5029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868680"/>
            <a:ext cx="5577840" cy="2560320"/>
          </a:xfrm>
          <a:prstGeom prst="rect">
            <a:avLst/>
          </a:prstGeom>
          <a:solidFill>
            <a:srgbClr val="FC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749808"/>
            <a:ext cx="973836" cy="256032"/>
          </a:xfrm>
          <a:prstGeom prst="rect">
            <a:avLst/>
          </a:prstGeom>
          <a:solidFill>
            <a:srgbClr val="E24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758952"/>
            <a:ext cx="973836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GAP QUALITY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97280"/>
            <a:ext cx="5212079" cy="224027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2937"/>
                </a:solidFill>
                <a:latin typeface="Calibri"/>
              </a:rPr>
              <a:t>IoT run (10 gaps): 2 plausible · 4 trivial · 4 wrong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2937"/>
                </a:solidFill>
                <a:latin typeface="Calibri"/>
              </a:rPr>
              <a:t>IoT run (6 gaps): 0 plausible · 1 trivial · 5 wrong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2937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2937"/>
                </a:solidFill>
                <a:latin typeface="Calibri"/>
              </a:rPr>
              <a:t>Most 'unlinked concepts' are linked in the corpus under different wording ('continuous monitoring' vs 'panic button'). Ratings by an AI annotator.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217920" y="868680"/>
          <a:ext cx="5577840" cy="16459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645920"/>
                <a:gridCol w="1645920"/>
              </a:tblGrid>
              <a:tr h="329183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Federated learning</a:t>
                      </a:r>
                    </a:p>
                  </a:txBody>
                  <a:tcPr>
                    <a:solidFill>
                      <a:srgbClr val="0D12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PyMuPDF</a:t>
                      </a:r>
                    </a:p>
                  </a:txBody>
                  <a:tcPr>
                    <a:solidFill>
                      <a:srgbClr val="0D12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GROBID</a:t>
                      </a:r>
                    </a:p>
                  </a:txBody>
                  <a:tcPr>
                    <a:solidFill>
                      <a:srgbClr val="0D1226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Full-text ratio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23%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Claims extracted</a:t>
                      </a:r>
                    </a:p>
                  </a:txBody>
                  <a:tcPr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98</a:t>
                      </a:r>
                    </a:p>
                  </a:txBody>
                  <a:tcPr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198</a:t>
                      </a:r>
                    </a:p>
                  </a:txBody>
                  <a:tcPr>
                    <a:solidFill>
                      <a:srgbClr val="F3F5F9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Claims dropped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7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Gaps (5 detectors)</a:t>
                      </a:r>
                    </a:p>
                  </a:txBody>
                  <a:tcPr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3F5F9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365760" y="3749039"/>
            <a:ext cx="11430000" cy="2331720"/>
          </a:xfrm>
          <a:prstGeom prst="rect">
            <a:avLst/>
          </a:prstGeom>
          <a:solidFill>
            <a:srgbClr val="EA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3630168"/>
            <a:ext cx="1207008" cy="256032"/>
          </a:xfrm>
          <a:prstGeom prst="rect">
            <a:avLst/>
          </a:prstGeom>
          <a:solidFill>
            <a:srgbClr val="2F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639311"/>
            <a:ext cx="1207008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HONEST READING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977639"/>
            <a:ext cx="11064240" cy="201167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F2937"/>
                </a:solidFill>
                <a:latin typeface="Calibri"/>
              </a:rPr>
              <a:t>GROBID doubles the claims a full-text paper yields and gives real sections. But in a 15-paper run on open-access PDFs only a handful of papers have full text (IoT: 0 of 15 had an open PDF), so no method or dataset appears in the two papers the full-text gap detectors need. The detectors are starved, not broken; the remedy is scale, not lower thresholds. Gut microbiome (GROBID): 3 of 9 papers in full text (33%), yielding 30, 65 and 13 claims against 0–6 per abstract — and 3 gaps survived (not yet rated).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46304"/>
            <a:ext cx="1152144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0D1226"/>
                </a:solidFill>
                <a:latin typeface="Cambria"/>
              </a:rPr>
              <a:t>Result 5 — Reproducible and Cheap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0D1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6519672"/>
            <a:ext cx="104241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AEB6CC"/>
                </a:solidFill>
                <a:latin typeface="Calibri"/>
              </a:rPr>
              <a:t>ATLAS  —  Agentic Technology for Literature Analysis and Synthesis   ·   Siddhesh Acharya, Mrigakshi Kaul, Suhani Singh   ·   Final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501384"/>
            <a:ext cx="5029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27432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1E8E5A"/>
                </a:solidFill>
                <a:latin typeface="Cambria"/>
              </a:rPr>
              <a:t>Identical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72768"/>
            <a:ext cx="27432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1F2937"/>
                </a:solidFill>
                <a:latin typeface="Calibri"/>
              </a:rPr>
              <a:t>replay of a 15-paper run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74519"/>
            <a:ext cx="274320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556070"/>
                </a:solidFill>
                <a:latin typeface="Calibri"/>
              </a:rPr>
              <a:t>Same papers in the same order, 65 claims, 132 relations — compared field by field.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914400"/>
            <a:ext cx="27432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1E8E5A"/>
                </a:solidFill>
                <a:latin typeface="Cambria"/>
              </a:rP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1572768"/>
            <a:ext cx="27432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1F2937"/>
                </a:solidFill>
                <a:latin typeface="Calibri"/>
              </a:rPr>
              <a:t>new LLM calls on replay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1874519"/>
            <a:ext cx="274320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556070"/>
                </a:solidFill>
                <a:latin typeface="Calibri"/>
              </a:rPr>
              <a:t>145 of 145 calls served from cache; 6.7 min.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914400"/>
            <a:ext cx="27432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0D1226"/>
                </a:solidFill>
                <a:latin typeface="Cambria"/>
              </a:rPr>
              <a:t>≤ $0.05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1572768"/>
            <a:ext cx="27432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1F2937"/>
                </a:solidFill>
                <a:latin typeface="Calibri"/>
              </a:rPr>
              <a:t>per 15-paper run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1874519"/>
            <a:ext cx="274320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556070"/>
                </a:solidFill>
                <a:latin typeface="Calibri"/>
              </a:rPr>
              <a:t>At paid Groq rates, from measured tokens; free on free tiers.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0" y="914400"/>
            <a:ext cx="265176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B7791F"/>
                </a:solidFill>
                <a:latin typeface="Cambria"/>
              </a:rPr>
              <a:t>1–4 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1572768"/>
            <a:ext cx="26517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1F2937"/>
                </a:solidFill>
                <a:latin typeface="Calibri"/>
              </a:rPr>
              <a:t>fresh run, free tier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1874519"/>
            <a:ext cx="265176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556070"/>
                </a:solidFill>
                <a:latin typeface="Calibri"/>
              </a:rPr>
              <a:t>Limit: 8K tokens/min and 200K/day per model — throughput, not money.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063240"/>
            <a:ext cx="11430000" cy="3017520"/>
          </a:xfrm>
          <a:prstGeom prst="rect">
            <a:avLst/>
          </a:prstGeom>
          <a:solidFill>
            <a:srgbClr val="E7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2944368"/>
            <a:ext cx="4005072" cy="256032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2953512"/>
            <a:ext cx="4005072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REPRODUCIBILITY BUGS FOUND AND FIXED ALONG THE WAY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291840"/>
            <a:ext cx="11064240" cy="269747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2937"/>
                </a:solidFill>
                <a:latin typeface="Calibri"/>
              </a:rPr>
              <a:t>Gap lists differed between two runs of the detectors on the same graph (6 vs 7 gaps) — Python's per-process set order steered clustering and tie-breaks; now byte-identical across processes.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2937"/>
                </a:solidFill>
                <a:latin typeface="Calibri"/>
              </a:rPr>
              <a:t>Reading a paper silently overwrote its shared embedding, changing the next run's reading order.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2937"/>
                </a:solidFill>
                <a:latin typeface="Calibri"/>
              </a:rPr>
              <a:t>Answers cut off by the output limit were never cached, so replays asked the LLM again.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2937"/>
                </a:solidFill>
                <a:latin typeface="Calibri"/>
              </a:rPr>
              <a:t>Per-run facts (read order, gaps, contradictions) leaked between runs through shared paper nodes.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46304"/>
            <a:ext cx="1152144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0D1226"/>
                </a:solidFill>
                <a:latin typeface="Cambria"/>
              </a:rPr>
              <a:t>Limitations — Stated Plainly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0D1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6519672"/>
            <a:ext cx="104241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AEB6CC"/>
                </a:solidFill>
                <a:latin typeface="Calibri"/>
              </a:rPr>
              <a:t>ATLAS  —  Agentic Technology for Literature Analysis and Synthesis   ·   Siddhesh Acharya, Mrigakshi Kaul, Suhani Singh   ·   Final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501384"/>
            <a:ext cx="5029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5029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E24B4A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1F2937"/>
                </a:solidFill>
                <a:latin typeface="Calibri"/>
              </a:rPr>
              <a:t>Scale: 9–15 papers per run, three questions. A real systematic review covers hundreds.</a:t>
            </a:r>
          </a:p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E24B4A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1F2937"/>
                </a:solidFill>
                <a:latin typeface="Calibri"/>
              </a:rPr>
              <a:t>Breadth: the loop reads differently, but broader citation coverage is not yet shown.</a:t>
            </a:r>
          </a:p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E24B4A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1F2937"/>
                </a:solidFill>
                <a:latin typeface="Calibri"/>
              </a:rPr>
              <a:t>Relations: annotators disagree on the labels; the IoT contradiction was false, the gut one needs a human.</a:t>
            </a:r>
          </a:p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E24B4A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1F2937"/>
                </a:solidFill>
                <a:latin typeface="Calibri"/>
              </a:rPr>
              <a:t>Gaps: mostly wording artefacts; 0–2 of 6–10 rated plausible.</a:t>
            </a:r>
          </a:p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E24B4A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1F2937"/>
                </a:solidFill>
                <a:latin typeface="Calibri"/>
              </a:rPr>
              <a:t>Full text: open PDFs are scarce (full-text ratio 0–33%); much is read from abstracts.</a:t>
            </a:r>
          </a:p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E24B4A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1F2937"/>
                </a:solidFill>
                <a:latin typeface="Calibri"/>
              </a:rPr>
              <a:t>Annotation: one human annotator on 15 pairs; other ratings by an AI annotator.</a:t>
            </a:r>
          </a:p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E24B4A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1F2937"/>
                </a:solidFill>
                <a:latin typeface="Calibri"/>
              </a:rPr>
              <a:t>Not run in time on the free tier: the ablation for queries 2–3 and a 75-paper deep run.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46304"/>
            <a:ext cx="1152144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0D1226"/>
                </a:solidFill>
                <a:latin typeface="Cambria"/>
              </a:rPr>
              <a:t>Conclusion and Future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0D1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6519672"/>
            <a:ext cx="104241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AEB6CC"/>
                </a:solidFill>
                <a:latin typeface="Calibri"/>
              </a:rPr>
              <a:t>ATLAS  —  Agentic Technology for Literature Analysis and Synthesis   ·   Siddhesh Acharya, Mrigakshi Kaul, Suhani Singh   ·   Final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501384"/>
            <a:ext cx="5029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13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868680"/>
            <a:ext cx="5577840" cy="5212080"/>
          </a:xfrm>
          <a:prstGeom prst="rect">
            <a:avLst/>
          </a:prstGeom>
          <a:solidFill>
            <a:srgbClr val="E7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749808"/>
            <a:ext cx="1129284" cy="256032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758952"/>
            <a:ext cx="1129284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WHAT ATLAS 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97280"/>
            <a:ext cx="5212079" cy="4892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F2937"/>
                </a:solidFill>
                <a:latin typeface="Calibri"/>
              </a:rPr>
              <a:t>A working, end-to-end research prototype: it harvests, reads, follows citations, extracts claims, builds a live graph and a grounded report, and answers only from what it read.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F2937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F2937"/>
                </a:solidFill>
                <a:latin typeface="Calibri"/>
              </a:rPr>
              <a:t>Dependable as an evidence finder: every claim is traceable to a verbatim, machine-checked sentence, and runs are reproducible.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F2937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F2937"/>
                </a:solidFill>
                <a:latin typeface="Calibri"/>
              </a:rPr>
              <a:t>Where it relates papers to one another, its output is a set of leads for a researcher, not conclusions.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868680"/>
            <a:ext cx="5577840" cy="5212080"/>
          </a:xfrm>
          <a:prstGeom prst="rect">
            <a:avLst/>
          </a:prstGeom>
          <a:solidFill>
            <a:srgbClr val="EA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59" y="749808"/>
            <a:ext cx="429768" cy="256032"/>
          </a:xfrm>
          <a:prstGeom prst="rect">
            <a:avLst/>
          </a:prstGeom>
          <a:solidFill>
            <a:srgbClr val="2F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59" y="758952"/>
            <a:ext cx="429768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NEXT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097280"/>
            <a:ext cx="5212079" cy="4892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F2937"/>
                </a:solidFill>
                <a:latin typeface="Calibri"/>
              </a:rPr>
              <a:t>Run at scale (75–200 papers) to test whether breadth and bridge promotion appear.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F2937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F2937"/>
                </a:solidFill>
                <a:latin typeface="Calibri"/>
              </a:rPr>
              <a:t>Sharpen the relation taxonomy; annotate with two or more humans; re-measure the judge.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F2937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F2937"/>
                </a:solidFill>
                <a:latin typeface="Calibri"/>
              </a:rPr>
              <a:t>Normalise concept wording before gap detection.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F2937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F2937"/>
                </a:solidFill>
                <a:latin typeface="Calibri"/>
              </a:rPr>
              <a:t>Keep per-run facts off shared graph nodes (read order and gaps done; depth, PageRank next).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F2937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F2937"/>
                </a:solidFill>
                <a:latin typeface="Calibri"/>
              </a:rPr>
              <a:t>Paid or local LLM capacity to remove the free-tier throughput ceiling.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377440"/>
            <a:ext cx="1051560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5400" b="1" i="0">
                <a:solidFill>
                  <a:srgbClr val="FFFFFF"/>
                </a:solidFill>
                <a:latin typeface="Cambria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383280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 i="0">
                <a:solidFill>
                  <a:srgbClr val="AEB6CC"/>
                </a:solidFill>
                <a:latin typeface="Cambria"/>
              </a:rPr>
              <a:t>Questions  ·  live demo on request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46304"/>
            <a:ext cx="1152144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0D1226"/>
                </a:solidFill>
                <a:latin typeface="Cambria"/>
              </a:rPr>
              <a:t>Backup — Ablation of the Scoring Components (IoT query, preliminary)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0D1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6519672"/>
            <a:ext cx="104241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AEB6CC"/>
                </a:solidFill>
                <a:latin typeface="Calibri"/>
              </a:rPr>
              <a:t>ATLAS  —  Agentic Technology for Literature Analysis and Synthesis   ·   Siddhesh Acharya, Mrigakshi Kaul, Suhani Singh   ·   Final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501384"/>
            <a:ext cx="5029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15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868680"/>
          <a:ext cx="731520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645920"/>
                <a:gridCol w="1645920"/>
                <a:gridCol w="1645920"/>
              </a:tblGrid>
              <a:tr h="329184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Config (15 papers)</a:t>
                      </a:r>
                    </a:p>
                  </a:txBody>
                  <a:tcPr>
                    <a:solidFill>
                      <a:srgbClr val="0D12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Clusters covered</a:t>
                      </a:r>
                    </a:p>
                  </a:txBody>
                  <a:tcPr>
                    <a:solidFill>
                      <a:srgbClr val="0D12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Contradictions</a:t>
                      </a:r>
                    </a:p>
                  </a:txBody>
                  <a:tcPr>
                    <a:solidFill>
                      <a:srgbClr val="0D12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Relations judged</a:t>
                      </a:r>
                    </a:p>
                  </a:txBody>
                  <a:tcPr>
                    <a:solidFill>
                      <a:srgbClr val="0D122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full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− PageRank</a:t>
                      </a:r>
                    </a:p>
                  </a:txBody>
                  <a:tcPr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120</a:t>
                      </a:r>
                    </a:p>
                  </a:txBody>
                  <a:tcPr>
                    <a:solidFill>
                      <a:srgbClr val="F3F5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− novelty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− contest</a:t>
                      </a:r>
                    </a:p>
                  </a:txBody>
                  <a:tcPr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120</a:t>
                      </a:r>
                    </a:p>
                  </a:txBody>
                  <a:tcPr>
                    <a:solidFill>
                      <a:srgbClr val="F3F5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− recency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relevance only</a:t>
                      </a:r>
                    </a:p>
                  </a:txBody>
                  <a:tcPr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84</a:t>
                      </a:r>
                    </a:p>
                  </a:txBody>
                  <a:tcPr>
                    <a:solidFill>
                      <a:srgbClr val="F3F5F9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955279" y="868680"/>
            <a:ext cx="3840480" cy="5212080"/>
          </a:xfrm>
          <a:prstGeom prst="rect">
            <a:avLst/>
          </a:prstGeom>
          <a:solidFill>
            <a:srgbClr val="FDF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19" y="749808"/>
            <a:ext cx="662940" cy="256032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19" y="758952"/>
            <a:ext cx="662940" cy="25603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spcAft>
                <a:spcPts val="40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CAVEATS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59" y="1097280"/>
            <a:ext cx="3474720" cy="4892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F2937"/>
                </a:solidFill>
                <a:latin typeface="Calibri"/>
              </a:rPr>
              <a:t>One query, 15 papers, one run per config — no variance estimate.</a:t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F2937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F2937"/>
                </a:solidFill>
                <a:latin typeface="Calibri"/>
              </a:rPr>
              <a:t>Recency carried most of the non-relevance signal here.</a:t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F2937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F2937"/>
                </a:solidFill>
                <a:latin typeface="Calibri"/>
              </a:rPr>
              <a:t>Cluster counts are the in-run measure; the like-for-like E1 comparison (slide 7) is the one to cite.</a:t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F2937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F2937"/>
                </a:solidFill>
                <a:latin typeface="Calibri"/>
              </a:rPr>
              <a:t>Queries 2–3 were not run in time on the free-tier quota.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