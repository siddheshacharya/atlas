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AEB6CC"/>
                </a:solidFill>
                <a:latin typeface="Cambria"/>
              </a:rPr>
              <a:t>Agentic Technology for Literature Analysis and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literature-review agent that reads, follows citations, and keeps every claim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tied to a verbatim, checked quote from its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Siddhesh Acharya   ·   Mrigakshi Kaul   ·   Suhani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EB6CC"/>
                </a:solidFill>
                <a:latin typeface="Calibri"/>
              </a:rPr>
              <a:t>Final Review   ·   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The Problem, and ATLAS's Answer: A Closed Foraging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150876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751076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175107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HOW TOOLS DO IT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1188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Search → take the top-k most similar abstracts → summarise. One pass: nothing read changes what is read next, and quotes can be paraphrased or invented.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868680"/>
            <a:ext cx="5577840" cy="150876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749808"/>
            <a:ext cx="1984248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758952"/>
            <a:ext cx="198424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HOW A RESEARCHER DOES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212079" cy="1188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Read the most promising paper → follow its references and citers → choose what to read next from what was just learned. Keep notes that point to the exact sentence.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Harvest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4 APIs → ~500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39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embed + score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the frontier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PDF → GROBID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claims with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verbatim quotes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606040"/>
            <a:ext cx="1298448" cy="1051560"/>
          </a:xfrm>
          <a:prstGeom prst="rect">
            <a:avLst/>
          </a:prstGeom>
          <a:solidFill>
            <a:srgbClr val="FDF4E3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quote must match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source exactly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Judge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claim-pair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relations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Expand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references +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citations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2880360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52760" y="2606040"/>
            <a:ext cx="1298448" cy="105156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52760" y="2651760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Re-score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17520"/>
            <a:ext cx="1298448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what to read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3749039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226"/>
                </a:solidFill>
                <a:latin typeface="Calibri"/>
              </a:rPr>
              <a:t>↺  repeat until the budget or saturation stops it  →  then: concepts → 5 gap detectors → one-pass grounded report → dashboard + chat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389120"/>
            <a:ext cx="5577840" cy="178308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4270248"/>
            <a:ext cx="3227832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279392"/>
            <a:ext cx="322783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SCORING THE FRONTIER (what to read next)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617720"/>
            <a:ext cx="5212079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relevance · recency · novelty vs what was read · PageRank in the growing citation graph · contest (disputed claims)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Bands on arrival: drop / park / queue; a parked paper bridging two clusters can be promoted.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389120"/>
            <a:ext cx="5486400" cy="178308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79" y="4270248"/>
            <a:ext cx="1440180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79" y="4279392"/>
            <a:ext cx="14401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BUILT AND RUNNING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617720"/>
            <a:ext cx="512064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Python · FastAPI · React + Cytoscape dashboard (live graph, report, chat)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Neo4j · Qdrant · SQLite / Postgres · GROBID · local bge embeddings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Free-tier LLMs: Groq gpt-oss (claims, judge), Gemini (report)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Trust by Construction: Four Rules the Code Enforces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237744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595628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159562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 UNVERIFIED 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Every claim carries a quote that must match the normalised source text character for character. Failures are dropped and logged — never repaired by the LLM.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68680"/>
            <a:ext cx="5577840" cy="237744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749808"/>
            <a:ext cx="1984248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758952"/>
            <a:ext cx="198424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 GAP WITHOUT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research gap that cannot name the papers bounding it is filtered out before it is ranked, reported or shown.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577840" cy="237744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906524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19065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NOTHING IT DID NOT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chat retrieves only from this run's claims. With nothing relevant it refuses — decided by retrieval, before any LLM is called.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577840" cy="237744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47288"/>
            <a:ext cx="896112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56432"/>
            <a:ext cx="89611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REPLAYABLE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Every LLM and API call is cached on its exact input. A re-run of the same query and config reproduces the run — measured, not assumed.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Demo — The Live Graph, and Every Claim Pointing to Its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5577840" cy="3137535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4006214"/>
            <a:ext cx="5577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56070"/>
                </a:solidFill>
                <a:latin typeface="Calibri"/>
              </a:rPr>
              <a:t>Run a0e32253 (IoT devices for women's safety), built live paper by paper.</a:t>
            </a:r>
          </a:p>
        </p:txBody>
      </p:sp>
      <p:pic>
        <p:nvPicPr>
          <p:cNvPr id="8" name="Picture 7" descr="paper_high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822960"/>
            <a:ext cx="5577840" cy="3137535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17920" y="4006214"/>
            <a:ext cx="5577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56070"/>
                </a:solidFill>
                <a:latin typeface="Calibri"/>
              </a:rPr>
              <a:t>Click a claim: its quote lights up inside the text ATLAS actually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5577840" cy="169164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315968"/>
            <a:ext cx="1440180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325112"/>
            <a:ext cx="14401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READING THE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521207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Ringed nodes: the 15 papers read · faded: papers they cite.  Size = PageRank, colour = citation cluster.  Edges: grey cites · green supports · blue extends · dashed different scope · red contradicts.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434840"/>
            <a:ext cx="5577840" cy="169164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315968"/>
            <a:ext cx="2217420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325112"/>
            <a:ext cx="22174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GROUNDING GATE,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521207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'Quote found verbatim in source' is recomputed in the browser from stored offsets.  Chat refuses 'Who won the 2018 FIFA World Cup?' — 'ATLAS did not read anything that addresses this.'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1 — Does the Loop Read Differently from One-Shot Retrieval?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75895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645920"/>
                <a:gridCol w="173736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(query, papers read)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Overlap with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cosine top-25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Clusters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ATLAS / baseline*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References reached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ATLAS / baseline*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IoT safety,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115 /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IoT safety, 15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 / 9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147 / 92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Federated learning,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355 / 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Federated learning, 13 (GROBID)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 / 9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452 / 332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Gut microbiome, 9 (GROBID)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381 / 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310128"/>
            <a:ext cx="7589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56070"/>
                </a:solidFill>
                <a:latin typeface="Calibri"/>
              </a:rPr>
              <a:t>* baseline cut to the same number of papers; one OpenAlex citation graph and one Louvain clustering for both 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868680"/>
            <a:ext cx="3566160" cy="246888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749808"/>
            <a:ext cx="429768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758952"/>
            <a:ext cx="4297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097280"/>
            <a:ext cx="3200400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ATLAS reads a substantially different set (36–56% overlap) and reaches 4–60% more of the reference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611880"/>
            <a:ext cx="3566160" cy="246888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3493008"/>
            <a:ext cx="818388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02152"/>
            <a:ext cx="81838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840480"/>
            <a:ext cx="3200400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At 9–15 papers it is not broader in citation-cluster coverage (−1, 0, +2, +2, −1). Bridge promotion never fired at this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7589520" cy="219456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67328"/>
            <a:ext cx="1517904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7647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CORRECTION WE MADE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7223760" cy="1874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An earlier draft claimed '14 clusters vs ~1 for the baseline'. That compared two different metrics (citation clusters vs text-similarity clusters), on vectors a bug had overwritten. We found it, fixed both, and withdrew the figure. The table is the like-for-like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2 — Are the Quotes Real?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quotes verbatim (98%)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Each source re-fetched and checked as an exact substring.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24B4A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live edits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Quotes the old fuzzy match let through: 'is set too high', 'a'→'an', a dropped 'that', a PDF page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3 / 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claims dropped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Federated-learning run with GROBID — the gate rejects little once text is clean.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7276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repairs by the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A failed quote is dropped and logged, never rewritten.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5577840" cy="301752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44368"/>
            <a:ext cx="1906524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19065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ONE FAILURE, TRACED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5212079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quote said 'the last few 5 layers'. The paper says 'the last few layers'.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Checking the PDF: page 4 ends mid-sentence, page 5 opens with its number '5'. The PDF parser kept it; the LLM quoted what ATLAS read, faithfully.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Fixed at the source: page numbers are stripped.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63240"/>
            <a:ext cx="5577840" cy="301752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944368"/>
            <a:ext cx="1828800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95351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LOOPHOLE WE 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212079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97%-similarity fallback existed for PDF noise — but it also accepted 'increased'→'decreased' or 'p &gt; 0.05'→'p &lt; 0.05'.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Now a fuzzy match must be exact once only spacing, hyphenation, quote marks, case and reference markers are ignored. Checked against every stored fuzzy match before shipping.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3 — Relations and Gaps: The Weakest Parts,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55778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Compared (12 single-label pairs)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Cohen's κ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Human vs AI annotator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Human vs ATLAS judge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/ 12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−0.05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 annotator vs ATLAS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2514600"/>
            <a:ext cx="5577840" cy="361188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818388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81838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212079" cy="3291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Even the annotators disagree on 'supports' vs 'extends' vs 'different scope' (the human marked 3 of 15 pairs undecided), so a single judge-accuracy figure (57% or 36%) is not trustworthy.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IoT's only contradiction ('NodeMCU' vs 'Raspberry Pi Pico') was false. Gut microbiome's ('repeatedly associated with depression' vs 'clinical results are mixed') is a plausible tension for a human to judge.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 stricter judge prompt removed the false contradiction but lost 8 of 9 genuine 'supports' — a trade-off, not a fix.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868680"/>
            <a:ext cx="5577840" cy="160020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749808"/>
            <a:ext cx="973836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758952"/>
            <a:ext cx="9738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GAP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212079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IoT (10 gaps): 2 plausible · 4 trivial · 4 wrong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IoT (6 gaps): 0 plausible · 1 trivial · 5 wrong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Most 'unlinked concepts' are linked under other wording. AI-annotator ratings.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697480"/>
          <a:ext cx="55778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Federated learning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PyMuPDF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GROBID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Full-text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Claims extracted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Gaps (5 detectors)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7920" y="4160520"/>
            <a:ext cx="55778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GROBID doubles the claims per full-text paper, but open PDFs are scarce (IoT: 0 of 15), so the full-text gap detectors are starved, not broken — the remedy is scale. Gut microbiome (GROBID): 3 of 9 in full text, 30 / 65 / 13 claims vs 0–6 per abstract; 3 gaps survived (not yet rated).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4 — Reproducible and Cheap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Identical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replay of a 15-paper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Same papers in the same order, 65 claims, 132 relations — compared field by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new LLM calls on replay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145 of 145 calls served from cache; 6.7 min.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≤ $0.05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per 15-paper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At paid Groq rates, from measured tokens; free on free tiers.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B7791F"/>
                </a:solidFill>
                <a:latin typeface="Cambria"/>
              </a:rPr>
              <a:t>1–4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7276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fresh run, free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Limit: 8K tokens/min and 200K/day per model — throughput, not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30000" cy="301752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44368"/>
            <a:ext cx="4005072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400507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REPRODUCIBILITY BUGS FOUND AND FIXED ALONG THE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11064240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Gap lists differed between two runs of the detectors on the same graph (6 vs 7 gaps) — Python's per-process set order steered clustering and tie-breaks; now byte-identical across processes.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Reading a paper silently overwrote its shared embedding, changing the next run's reading order.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Answers cut off by the output limit were never cached, so replays asked the LLM again.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Per-run facts (read order, gaps, contradictions) leaked between runs through shared paper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Limitations,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525780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2295144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229514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LIMITATIONS — STATED PLAINLY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80" cy="4937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Scale: 9–15 papers per run, three questions; a real review covers hundreds.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Breadth: reads differently, but broader citation coverage not yet shown.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Relations: annotators disagree on the labels; the IoT contradiction was false.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Gaps: mostly wording artefacts; 0–2 of 6–10 rated plausible.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Full text: open PDFs are scarce (0–33%); much is read from abstracts.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Annotation: one human on 15 pairs; other ratings by an AI annotator.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Not run in time on the free tier: ablation for queries 2–3, a 75-paper deep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868680"/>
            <a:ext cx="5577840" cy="251460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749808"/>
            <a:ext cx="1129284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758952"/>
            <a:ext cx="11292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ATLAS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212079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working end-to-end research prototype: it harvests, reads, follows citations, builds a live graph and a grounded report, and answers only from what it read.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Dependable as an evidence finder — every claim traceable to a machine-checked sentence, runs reproducible. Its paper-to-paper relations are leads, not conclusions.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577840" cy="246888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3538728"/>
            <a:ext cx="429768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547872"/>
            <a:ext cx="4297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5212079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Run at scale (75–200 papers) to test breadth and bridge promotion.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Sharpen the relation taxonomy; two or more human annotators; re-measure the judge.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Normalise concept wording before gap detection.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Paid or local LLM capacity to lift the free-tier ceiling.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AEB6CC"/>
                </a:solidFill>
                <a:latin typeface="Cambria"/>
              </a:rPr>
              <a:t>Questions  ·  live demo 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EB6CC"/>
                </a:solidFill>
                <a:latin typeface="Calibri"/>
              </a:rPr>
              <a:t>Siddhesh Acharya   ·   Mrigakshi Kaul   ·   Suhani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